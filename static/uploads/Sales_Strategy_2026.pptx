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CADCFC"/>
            </a:solidFill>
            <a:ln w="38100" cap="flat">
              <a:solidFill>
                <a:srgbClr val="CADCF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ADCFC"/>
              </a:solidFill>
              <a:ln w="9525" cap="flat">
                <a:solidFill>
                  <a:srgbClr val="CADCF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7.2</c:v>
                </c:pt>
                <c:pt idx="1">
                  <c:v>8.1</c:v>
                </c:pt>
                <c:pt idx="2">
                  <c:v>8.9</c:v>
                </c:pt>
                <c:pt idx="3">
                  <c:v>10.4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4A90D9"/>
            </a:solidFill>
            <a:ln w="38100" cap="flat">
              <a:solidFill>
                <a:srgbClr val="4A90D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A90D9"/>
              </a:solidFill>
              <a:ln w="9525" cap="flat">
                <a:solidFill>
                  <a:srgbClr val="4A90D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9.1</c:v>
                </c:pt>
                <c:pt idx="1">
                  <c:v>10.5</c:v>
                </c:pt>
                <c:pt idx="2">
                  <c:v>11.2</c:v>
                </c:pt>
                <c:pt idx="3">
                  <c:v>13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F5A623"/>
            </a:solidFill>
            <a:ln w="38100" cap="flat">
              <a:solidFill>
                <a:srgbClr val="F5A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10.8</c:v>
                </c:pt>
                <c:pt idx="1">
                  <c:v>11.7</c:v>
                </c:pt>
                <c:pt idx="2">
                  <c:v>12.6</c:v>
                </c:pt>
                <c:pt idx="3">
                  <c:v>13.1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$#,##0.0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 America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4.2</c:v>
                </c:pt>
                <c:pt idx="1">
                  <c:v>4.9</c:v>
                </c:pt>
                <c:pt idx="2">
                  <c:v>5.3</c:v>
                </c:pt>
                <c:pt idx="3">
                  <c:v>5.8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2.8</c:v>
                </c:pt>
                <c:pt idx="1">
                  <c:v>3.1</c:v>
                </c:pt>
                <c:pt idx="2">
                  <c:v>3.4</c:v>
                </c:pt>
                <c:pt idx="3">
                  <c:v>3.7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Asia-Pacific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1.9</c:v>
                </c:pt>
                <c:pt idx="1">
                  <c:v>2.3</c:v>
                </c:pt>
                <c:pt idx="2">
                  <c:v>2.6</c:v>
                </c:pt>
                <c:pt idx="3">
                  <c:v>2.9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Rest of World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0.9</c:v>
                </c:pt>
                <c:pt idx="1">
                  <c:v>1.4</c:v>
                </c:pt>
                <c:pt idx="2">
                  <c:v>1.3</c:v>
                </c:pt>
                <c:pt idx="3">
                  <c:v>0.7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$#,##0.0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Product Mix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Product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4A90D9"/>
              </a:solidFill>
              <a:effectLst/>
            </c:spPr>
          </c:dPt>
          <c:dPt>
            <c:idx val="2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Enterprise</c:v>
                </c:pt>
                <c:pt idx="1">
                  <c:v>Mid-Market</c:v>
                </c:pt>
                <c:pt idx="2">
                  <c:v>SMB</c:v>
                </c:pt>
                <c:pt idx="3">
                  <c:v>Professional Services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42</c:v>
                </c:pt>
                <c:pt idx="1">
                  <c:v>28</c:v>
                </c:pt>
                <c:pt idx="2">
                  <c:v>18</c:v>
                </c:pt>
                <c:pt idx="3">
                  <c:v>12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Revenue by Channel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Direct Sales</c:v>
                  </c:pt>
                  <c:pt idx="1">
                    <c:v>Channel Partners</c:v>
                  </c:pt>
                  <c:pt idx="2">
                    <c:v>Online / Self-Serve</c:v>
                  </c:pt>
                  <c:pt idx="3">
                    <c:v>Events &amp; Referrals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21.3</c:v>
                </c:pt>
                <c:pt idx="1">
                  <c:v>14.8</c:v>
                </c:pt>
                <c:pt idx="2">
                  <c:v>8.2</c:v>
                </c:pt>
                <c:pt idx="3">
                  <c:v>3.9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$#,##0.0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Customers: New vs Churned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Customers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740</c:v>
                </c:pt>
                <c:pt idx="1">
                  <c:v>890</c:v>
                </c:pt>
                <c:pt idx="2">
                  <c:v>1080</c:v>
                </c:pt>
                <c:pt idx="3">
                  <c:v>1340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Churned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210</c:v>
                </c:pt>
                <c:pt idx="1">
                  <c:v>185</c:v>
                </c:pt>
                <c:pt idx="2">
                  <c:v>160</c:v>
                </c:pt>
                <c:pt idx="3">
                  <c:v>130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Retention Rates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Retention Rate (%)</c:v>
                </c:pt>
              </c:strCache>
            </c:strRef>
          </c:tx>
          <c:spPr>
            <a:solidFill>
              <a:srgbClr val="22C55E"/>
            </a:solidFill>
            <a:ln w="38100" cap="flat">
              <a:solidFill>
                <a:srgbClr val="22C55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</c:v>
                </c:pt>
                <c:pt idx="1">
                  <c:v>91</c:v>
                </c:pt>
                <c:pt idx="2">
                  <c:v>94</c:v>
                </c:pt>
                <c:pt idx="3">
                  <c:v>96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Retention Rate (%)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82</c:v>
                </c:pt>
                <c:pt idx="1">
                  <c:v>85</c:v>
                </c:pt>
                <c:pt idx="2">
                  <c:v>88</c:v>
                </c:pt>
                <c:pt idx="3">
                  <c:v>90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7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Market Share 2025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90D9"/>
              </a:solidFill>
              <a:effectLst/>
            </c:spPr>
          </c:dPt>
          <c:dPt>
            <c:idx val="1"/>
            <c:bubble3D val="0"/>
            <c:spPr>
              <a:solidFill>
                <a:srgbClr val="B0C4DE"/>
              </a:solidFill>
              <a:effectLst/>
            </c:spPr>
          </c:dPt>
          <c:dPt>
            <c:idx val="2"/>
            <c:bubble3D val="0"/>
            <c:spPr>
              <a:solidFill>
                <a:srgbClr val="7090C0"/>
              </a:solidFill>
              <a:effectLst/>
            </c:spPr>
          </c:dPt>
          <c:dPt>
            <c:idx val="3"/>
            <c:bubble3D val="0"/>
            <c:spPr>
              <a:solidFill>
                <a:srgbClr val="4070A0"/>
              </a:solidFill>
              <a:effectLst/>
            </c:spPr>
          </c:dPt>
          <c:dPt>
            <c:idx val="4"/>
            <c:bubble3D val="0"/>
            <c:spPr>
              <a:solidFill>
                <a:srgbClr val="D0D8E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Us</c:v>
                </c:pt>
                <c:pt idx="1">
                  <c:v>Competitor A</c:v>
                </c:pt>
                <c:pt idx="2">
                  <c:v>Competitor B</c:v>
                </c:pt>
                <c:pt idx="3">
                  <c:v>Competitor C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28</c:v>
                </c:pt>
                <c:pt idx="1">
                  <c:v>22</c:v>
                </c:pt>
                <c:pt idx="2">
                  <c:v>18</c:v>
                </c:pt>
                <c:pt idx="3">
                  <c:v>14</c:v>
                </c:pt>
                <c:pt idx="4">
                  <c:v>18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457200"/>
            <a:ext cx="2286000" cy="2286000"/>
          </a:xfrm>
          <a:prstGeom prst="ellipse">
            <a:avLst/>
          </a:prstGeom>
          <a:solidFill>
            <a:srgbClr val="2D4A9A">
              <a:alpha val="40000"/>
            </a:srgbClr>
          </a:solidFill>
          <a:ln w="12700">
            <a:solidFill>
              <a:srgbClr val="2D4A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3200400"/>
            <a:ext cx="1645920" cy="1645920"/>
          </a:xfrm>
          <a:prstGeom prst="ellipse">
            <a:avLst/>
          </a:prstGeom>
          <a:solidFill>
            <a:srgbClr val="4A90D9">
              <a:alpha val="3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572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ADCFC"/>
                </a:solidFill>
              </a:rPr>
              <a:t>CONFIDENTIAL  ·  FISCAL YEAR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Strategy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65760" y="32004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Accelerating Growth · Expanding Markets · Driving Revenue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6817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Prepared by Sales Leadership  · 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Executive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201168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</a:rPr>
              <a:t>$48.2M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Total Revenue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6334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+18% YoY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14300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143000"/>
            <a:ext cx="2011680" cy="914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4173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90D9"/>
                </a:solidFill>
              </a:rPr>
              <a:t>1,340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514600" y="2240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New Customers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26334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+24% YoY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114300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143000"/>
            <a:ext cx="201168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4173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C55E"/>
                </a:solidFill>
              </a:rPr>
              <a:t>67%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663440" y="2240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Win Rate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26334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+9 pts YoY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114300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1143000"/>
            <a:ext cx="201168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4173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A623"/>
                </a:solidFill>
              </a:rPr>
              <a:t>$36K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812280" y="2240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Avg Deal Size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12280" y="26334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+12% YoY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657600"/>
            <a:ext cx="850392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4904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▶  Revenue surpassed $48M, beating the $41M target by 17%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  |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▶  Pipeline coverage at 3.4× ensures a strong H1 2026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  |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▶  NPS reached 72, highest in company history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Revenue Performance — 2023 to 2025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84124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Revenue in USD Millions  |  Source: Finance BI Dashboard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4A9A"/>
          </a:solidFill>
          <a:ln w="12700">
            <a:solidFill>
              <a:srgbClr val="2D4A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Quarterly Sales by Region — 2025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84124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Revenue Mix by Product Line &amp; Channel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41148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0" y="1005840"/>
          <a:ext cx="42062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Sales Pipeline — Current Funnel Health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7315200" cy="4937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" y="1170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Leads Generated   4,820 leads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40680" y="1170432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$186M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78408" y="1719072"/>
            <a:ext cx="5998464" cy="493776"/>
          </a:xfrm>
          <a:prstGeom prst="rect">
            <a:avLst/>
          </a:prstGeom>
          <a:solidFill>
            <a:srgbClr val="2D4A9A"/>
          </a:solidFill>
          <a:ln w="12700">
            <a:solidFill>
              <a:srgbClr val="2D4A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" y="1792224"/>
            <a:ext cx="38990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Qualified Pipeline   2,210 opps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77333" y="1792224"/>
            <a:ext cx="16795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$112M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709928" y="2340864"/>
            <a:ext cx="4535424" cy="4937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19656" y="2414016"/>
            <a:ext cx="29480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Demo / Discovery   1,420 opps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84725" y="2414016"/>
            <a:ext cx="12699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$74M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68296" y="2962656"/>
            <a:ext cx="3218688" cy="4937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78024" y="3035808"/>
            <a:ext cx="2092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Proposal Sent   860 opps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21378" y="3035808"/>
            <a:ext cx="90123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$52M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53512" y="3584448"/>
            <a:ext cx="2048256" cy="4937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3657600"/>
            <a:ext cx="13313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Negotiation   490 opps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7291" y="3657600"/>
            <a:ext cx="573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$31M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65576" y="4206240"/>
            <a:ext cx="1024128" cy="4937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75304" y="4279392"/>
            <a:ext cx="66568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Closed Won   1,340 deals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82466" y="4279392"/>
            <a:ext cx="2867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$48.2M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Customer Acquisition &amp; Retention Trends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577840" y="1051560"/>
          <a:ext cx="32918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4A9A"/>
          </a:solidFill>
          <a:ln w="12700">
            <a:solidFill>
              <a:srgbClr val="2D4A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Competitive Landscape &amp; Market Share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41148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097280"/>
          <a:ext cx="4251960" cy="3474720"/>
        </p:xfrm>
        <a:graphic>
          <a:graphicData uri="http://schemas.openxmlformats.org/drawingml/2006/table">
            <a:tbl>
              <a:tblPr/>
              <a:tblGrid>
                <a:gridCol w="1920240"/>
                <a:gridCol w="777240"/>
                <a:gridCol w="777240"/>
                <a:gridCol w="7772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Comp. 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Comp. 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Price Competitiveness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★★★★★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★★★☆☆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★★★★☆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Product Features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★★★★★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★★★★☆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★★★☆☆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Customer Support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★★★★★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★★★☆☆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★★★★☆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Integration Ecosystem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★★★★☆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★★★★★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★★★☆☆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Brand Recognition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★★★★☆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★★★★★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★★★★☆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Market Growth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↑ 28%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↑ 14%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↑ 9%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2026 Growth Strategy — Four Pillars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91440" cy="1737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01  Market Expansion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▶  Enter 6 new geographies in APAC &amp; LATAM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▶  Launch 2 new industry verticals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▶  Achieve $8M in new-market revenue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97280"/>
            <a:ext cx="91440" cy="17373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</a:rPr>
              <a:t>02  Product-Led Growth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▶  Free trial → paid conversion rate &gt;35%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▶  Release 3 high-impact feature bundles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▶  Reduce time-to-value from 45 → 20 days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017520"/>
            <a:ext cx="91440" cy="1737360"/>
          </a:xfrm>
          <a:prstGeom prst="rect">
            <a:avLst/>
          </a:prstGeom>
          <a:solidFill>
            <a:srgbClr val="2D4A9A"/>
          </a:solidFill>
          <a:ln w="12700">
            <a:solidFill>
              <a:srgbClr val="2D4A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08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4A9A"/>
                </a:solidFill>
              </a:rPr>
              <a:t>03  Partner Ecosystem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47472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▶  Double channel partner count to 140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▶  Launch co-sell program with 5 GSIs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▶  Drive $15M via partner-sourced deals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301752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017520"/>
            <a:ext cx="91440" cy="1737360"/>
          </a:xfrm>
          <a:prstGeom prst="rect">
            <a:avLst/>
          </a:prstGeom>
          <a:solidFill>
            <a:srgbClr val="22A55C"/>
          </a:solidFill>
          <a:ln w="12700">
            <a:solidFill>
              <a:srgbClr val="22A5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108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A55C"/>
                </a:solidFill>
              </a:rPr>
              <a:t>04  Retention &amp; Expansion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47472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▶  Achieve 110% Net Revenue Retention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▶  Deploy Customer Success in 3 new segments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▶  Grow upsell revenue by 40%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2026 Annual Targets &amp;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60020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2D4A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$58M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16642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Revenue Target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9659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↑ 20% vs 2025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0" y="1005840"/>
            <a:ext cx="160020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2D4A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10972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1,700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057400" y="16642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New Logos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57400" y="19659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↑ 27% vs 2025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49040" y="1005840"/>
            <a:ext cx="160020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2D4A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10972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112%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794760" y="16642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NRR Goal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94760" y="19659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+2 pts vs 2025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0" y="1005840"/>
            <a:ext cx="160020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2D4A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0972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&lt; 14 mo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532120" y="16642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CAC Payback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32120" y="19659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↓ 4 mo vs 2025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23760" y="1005840"/>
            <a:ext cx="160020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2D4A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9480" y="10972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$15M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269480" y="16642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</a:rPr>
              <a:t>Partner Revenue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69480" y="19659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</a:rPr>
              <a:t>↑ 82% vs 2025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2560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</a:rPr>
              <a:t>Quarterly Execution Roadmap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2999232"/>
            <a:ext cx="850392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3000" y="2907792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246120"/>
            <a:ext cx="201168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2D4A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" y="331012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Q1 2026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93192" y="3630168"/>
            <a:ext cx="18653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Hire 20 AEs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Launch APAC pilot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Partner program kick-off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73552" y="2907792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50592" y="3246120"/>
            <a:ext cx="201168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2D4A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23744" y="331012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Q2 2026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523744" y="3630168"/>
            <a:ext cx="18653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Product bundle launch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Vertical GTM #1 live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Mid-year pipeline review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04104" y="2907792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81144" y="3246120"/>
            <a:ext cx="201168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2D4A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54296" y="331012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Q3 2026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54296" y="3630168"/>
            <a:ext cx="18653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Scale channel opps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Expand CS team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Customer Advisory Board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534656" y="2907792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11696" y="3246120"/>
            <a:ext cx="201168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2D4A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84848" y="331012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Q4 2026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784848" y="3630168"/>
            <a:ext cx="18653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Close fiscal year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Budget planning 2027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ADCFC"/>
                </a:solidFill>
              </a:rPr>
              <a:t>Annual Revenue Summit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Strategy 2026</dc:title>
  <dc:subject>PptxGenJS Presentation</dc:subject>
  <dc:creator>PptxGenJS</dc:creator>
  <cp:lastModifiedBy>PptxGenJS</cp:lastModifiedBy>
  <cp:revision>1</cp:revision>
  <dcterms:created xsi:type="dcterms:W3CDTF">2026-04-11T17:33:49Z</dcterms:created>
  <dcterms:modified xsi:type="dcterms:W3CDTF">2026-04-11T17:33:49Z</dcterms:modified>
</cp:coreProperties>
</file>